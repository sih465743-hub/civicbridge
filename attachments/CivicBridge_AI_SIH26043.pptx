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29_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97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2783D9-A15E-AC51-2D6B-182F592B1F6D}" name="Pratik Sakhare" initials="PS" userId="260d6eb3b4f2fc3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Sakhare" userId="260d6eb3b4f2fc34" providerId="LiveId" clId="{0BCF1D6C-3E45-4882-9479-5F73360D29BF}"/>
    <pc:docChg chg="undo custSel modSld">
      <pc:chgData name="Pratik Sakhare" userId="260d6eb3b4f2fc34" providerId="LiveId" clId="{0BCF1D6C-3E45-4882-9479-5F73360D29BF}" dt="2026-09-19T05:07:20.054" v="2" actId="1035"/>
      <pc:docMkLst>
        <pc:docMk/>
      </pc:docMkLst>
      <pc:sldChg chg="modSp mod">
        <pc:chgData name="Pratik Sakhare" userId="260d6eb3b4f2fc34" providerId="LiveId" clId="{0BCF1D6C-3E45-4882-9479-5F73360D29BF}" dt="2026-09-19T05:07:20.054" v="2" actId="1035"/>
        <pc:sldMkLst>
          <pc:docMk/>
          <pc:sldMk cId="0" sldId="260"/>
        </pc:sldMkLst>
        <pc:spChg chg="mod">
          <ac:chgData name="Pratik Sakhare" userId="260d6eb3b4f2fc34" providerId="LiveId" clId="{0BCF1D6C-3E45-4882-9479-5F73360D29BF}" dt="2026-09-19T05:07:20.054" v="2" actId="1035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Pratik Sakhare" userId="260d6eb3b4f2fc34" providerId="LiveId" clId="{0BCF1D6C-3E45-4882-9479-5F73360D29BF}" dt="2026-09-18T09:29:16.124" v="1" actId="20577"/>
        <pc:sldMkLst>
          <pc:docMk/>
          <pc:sldMk cId="0" sldId="297"/>
        </pc:sldMkLst>
        <pc:spChg chg="mod">
          <ac:chgData name="Pratik Sakhare" userId="260d6eb3b4f2fc34" providerId="LiveId" clId="{0BCF1D6C-3E45-4882-9479-5F73360D29BF}" dt="2026-09-18T09:29:16.124" v="1" actId="20577"/>
          <ac:spMkLst>
            <pc:docMk/>
            <pc:sldMk cId="0" sldId="297"/>
            <ac:spMk id="4" creationId="{00000000-0000-0000-0000-000000000000}"/>
          </ac:spMkLst>
        </pc:spChg>
      </pc:sldChg>
    </pc:docChg>
  </pc:docChgLst>
</pc:chgInfo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989E4E0-4FB0-4665-B464-BC40E382AD33}" authorId="{D42783D9-A15E-AC51-2D6B-182F592B1F6D}" created="2026-09-07T14:26:45.225">
    <pc:sldMkLst xmlns:pc="http://schemas.microsoft.com/office/powerpoint/2013/main/command">
      <pc:docMk/>
      <pc:sldMk cId="0" sldId="297"/>
    </pc:sldMkLst>
    <p188:txBody>
      <a:bodyPr/>
      <a:lstStyle/>
      <a:p>
        <a:r>
          <a:rPr lang="en-US"/>
          <a:t>Respected Judges, we are The Favicons, presenting our solution for Problem Statement 26043.
Today, civic crowdsourcing platforms fail for one simple reason: Garbage Data. They get flooded with spam, duplicate complaints, and noise. Furthermore, 70% of rural citizens don't have the digital literacy to use complex web portals.
We didn't just build a portal; we built an AI-Powered Civic Ecosystem.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39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"Respected Judges. We are Team </a:t>
            </a:r>
            <a:r>
              <a:rPr lang="en-US" b="1" dirty="0"/>
              <a:t>The Favicons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rPr>
              <a:t>[Pause]</a:t>
            </a:r>
            <a:r>
              <a:rPr lang="en-US" dirty="0"/>
              <a:t> Today, we present our solution for Problem Statement 26043.</a:t>
            </a:r>
          </a:p>
          <a:p>
            <a:r>
              <a:rPr lang="en-US" dirty="0"/>
              <a:t>Right now, government complaint portals fail for one main reason: Noise. They are flooded with spam and duplicate tickets. Plus, most rural citizens simply cannot use complex websites.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46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07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041712" y="1063837"/>
            <a:ext cx="4843759" cy="761158"/>
          </a:xfrm>
        </p:spPr>
        <p:txBody>
          <a:bodyPr/>
          <a:lstStyle/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CivicBridge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8938" y="11332"/>
            <a:ext cx="10363200" cy="117429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4396" y="1715881"/>
            <a:ext cx="5924550" cy="397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26043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Crowdsourcing Societal Challenges &amp; University-Industry Problem Solving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dirty="0"/>
              <a:t>Smart Governance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The Favicons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363"/>
    </mc:Choice>
    <mc:Fallback xmlns="">
      <p:transition spd="slow" advTm="25363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1149268" y="267139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27760" y="633833"/>
            <a:ext cx="8808720" cy="1819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CivicBridge AI – Multilingual Crowdsourcing &amp; Tri-Party Incentive Engine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1612880" cy="777240"/>
          </a:xfrm>
          <a:prstGeom prst="round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zero-download, WhatsApp-based ecosystem that converts rural voice complaints into verified, funded R&amp;D projects for engineering students.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3749040" cy="1828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03120"/>
            <a:ext cx="3749040" cy="365760"/>
          </a:xfrm>
          <a:prstGeom prst="rect">
            <a:avLst/>
          </a:prstGeom>
          <a:solidFill>
            <a:srgbClr val="3498DB"/>
          </a:solidFill>
          <a:ln w="28575">
            <a:solidFill>
              <a:schemeClr val="accent5">
                <a:lumMod val="50000"/>
              </a:schemeClr>
            </a:solidFill>
          </a:ln>
        </p:spPr>
      </p:sp>
      <p:sp>
        <p:nvSpPr>
          <p:cNvPr id="9" name="Text 7"/>
          <p:cNvSpPr/>
          <p:nvPr/>
        </p:nvSpPr>
        <p:spPr>
          <a:xfrm>
            <a:off x="27432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Citizen (No App)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WhatsApp voice note in local dialects (Nagpuri/Santhali). AI translates &amp; extracts GPS.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103120"/>
            <a:ext cx="3749040" cy="1828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2103120"/>
            <a:ext cx="3749040" cy="365760"/>
          </a:xfrm>
          <a:prstGeom prst="rect">
            <a:avLst/>
          </a:prstGeom>
          <a:solidFill>
            <a:srgbClr val="9B59B6"/>
          </a:solidFill>
          <a:ln w="28575">
            <a:solidFill>
              <a:schemeClr val="accent5">
                <a:lumMod val="50000"/>
              </a:schemeClr>
            </a:solidFill>
          </a:ln>
        </p:spPr>
      </p:sp>
      <p:sp>
        <p:nvSpPr>
          <p:cNvPr id="13" name="Text 11"/>
          <p:cNvSpPr/>
          <p:nvPr/>
        </p:nvSpPr>
        <p:spPr>
          <a:xfrm>
            <a:off x="420624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Government (Zero Noise)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2606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auto-groups identical complaints (50 reports on one pump = 1 Master Challenge).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749040" cy="1828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103120"/>
            <a:ext cx="3749040" cy="365760"/>
          </a:xfrm>
          <a:prstGeom prst="rect">
            <a:avLst/>
          </a:prstGeom>
          <a:solidFill>
            <a:srgbClr val="E67E22"/>
          </a:solidFill>
          <a:ln w="28575">
            <a:solidFill>
              <a:schemeClr val="accent5">
                <a:lumMod val="50000"/>
              </a:schemeClr>
            </a:solidFill>
          </a:ln>
        </p:spPr>
      </p:sp>
      <p:sp>
        <p:nvSpPr>
          <p:cNvPr id="17" name="Text 15"/>
          <p:cNvSpPr/>
          <p:nvPr/>
        </p:nvSpPr>
        <p:spPr>
          <a:xfrm>
            <a:off x="813816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Students (R&amp;D Focus)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6060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challenges for academic credits + CSR prototype funding (₹25k–₹50k).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USPs &amp; Innovation (Why it Wins)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526280"/>
            <a:ext cx="3749040" cy="1371600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Intake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5029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10-sec WhatsApp audio replaces complex app downloads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4526280"/>
            <a:ext cx="3749040" cy="1371600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24" name="Text 22"/>
          <p:cNvSpPr/>
          <p:nvPr/>
        </p:nvSpPr>
        <p:spPr>
          <a:xfrm>
            <a:off x="43434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Spam Shield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43400" y="5029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rejects selfies/memes before they reach dashboard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4526280"/>
            <a:ext cx="3749040" cy="1371600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827532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Dual-Factor Verification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75320" y="5029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geotagged proof + Citizen OTP to release funds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1" name="Oval 30" descr="Your startup LOGO">
            <a:extLst>
              <a:ext uri="{FF2B5EF4-FFF2-40B4-BE49-F238E27FC236}">
                <a16:creationId xmlns:a16="http://schemas.microsoft.com/office/drawing/2014/main" id="{4EC2A345-9AEE-C454-8A34-C970A08F8A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05678"/>
            <a:ext cx="1149268" cy="654442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THE FAVICONS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0325D56-D8F3-677D-32AB-0D36192EA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566" y="105216"/>
            <a:ext cx="2004194" cy="9463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228600"/>
            <a:ext cx="10972800" cy="618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WhatsApp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Whisper-Large-v3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834640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05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325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IndicBERT (Dialects)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(Spam Filter)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834640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05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325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(Semantic)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960120"/>
            <a:ext cx="2834640" cy="1234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005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81160" y="1325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Dual-Factor OTP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Geotagged Proof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Execution Architecture (How it Works)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11612880" cy="3474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/ Approach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Ingest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Voice/Image via WhatsApp → Auto-extract EXIF Geotag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Groq Whisper + Twilio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Triage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NLP → English JSON → YOLOv8 drops non-contextual spam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IndicBERT + YOLOv8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Deduplicate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1536-dim embeddings → Cosine similarity merges duplicates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pgvector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Route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Graph-match Master Challenge to nearest univ tech dept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Spatial DB Queries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Resolve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prototype video → SMS OTP to citizen for sign-off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Dual-Factor Protocol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5A50C78-FAE9-B8E5-A456-795FFC96F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125378"/>
            <a:ext cx="1767840" cy="8347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C6A778-9453-965D-AFFA-B781BAD4B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5" y="218898"/>
            <a:ext cx="1236518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303520" cy="12344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Rural Tech Illiteracy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won't use complex government portals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5943600" cy="12344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Mitigation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0760" y="16916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Viability: Bypasses portals. Uses existing WhatsApp – only voice notes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5303520" cy="12344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Student Apathy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prefer placements over manual civic labor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651760"/>
            <a:ext cx="5943600" cy="12344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7432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Mitigation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30632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 Redesign: Tasks as IoT/Engg R&amp;D. Tied to NEP 2020 credits + CSR grants.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5303520" cy="12344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Data Spam &amp; Duplicates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434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 of junk reports and identical complaints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4023360"/>
            <a:ext cx="5943600" cy="12344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4114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Mitigation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44348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Filtering: YOLOv8 kills visual junk. Vector DB clusters identical issues.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394960"/>
            <a:ext cx="5303520" cy="12344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Fraudulent Closures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5806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reports by students to claim funds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5394960"/>
            <a:ext cx="5943600" cy="12344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54864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Mitigation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58064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Lockdown: Needs Citizen OTP + Geotagged prototype. Unilateral close impossible.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69" name="Oval 68" descr="Your startup LOGO">
            <a:extLst>
              <a:ext uri="{FF2B5EF4-FFF2-40B4-BE49-F238E27FC236}">
                <a16:creationId xmlns:a16="http://schemas.microsoft.com/office/drawing/2014/main" id="{89021E97-E24A-EE9D-182F-2E4A8C22307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7366" y="411187"/>
            <a:ext cx="1149268" cy="654442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THE FAVICONS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DF818D0B-FDFE-38F5-1207-E3C215881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932" y="210725"/>
            <a:ext cx="2004194" cy="946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5669280" cy="2468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5669280" cy="457200"/>
          </a:xfrm>
          <a:prstGeom prst="rect">
            <a:avLst/>
          </a:prstGeom>
          <a:solidFill>
            <a:srgbClr val="3498DB"/>
          </a:solidFill>
          <a:ln w="28575">
            <a:solidFill>
              <a:schemeClr val="accent5">
                <a:lumMod val="50000"/>
              </a:schemeClr>
            </a:solidFill>
          </a:ln>
        </p:spPr>
      </p:sp>
      <p:sp>
        <p:nvSpPr>
          <p:cNvPr id="6" name="Text 4"/>
          <p:cNvSpPr/>
          <p:nvPr/>
        </p:nvSpPr>
        <p:spPr>
          <a:xfrm>
            <a:off x="274320" y="13075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&amp; Citizen Impact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100% inclusive – illiterate users &amp; dialect speakers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Guaranteed accountability via Citizen OTP sign-off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25109"/>
            <a:ext cx="5669280" cy="2468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5669280" cy="457200"/>
          </a:xfrm>
          <a:prstGeom prst="rect">
            <a:avLst/>
          </a:prstGeom>
          <a:solidFill>
            <a:srgbClr val="9B59B6"/>
          </a:solidFill>
          <a:ln w="28575">
            <a:solidFill>
              <a:schemeClr val="accent5">
                <a:lumMod val="50000"/>
              </a:schemeClr>
            </a:solidFill>
          </a:ln>
        </p:spPr>
      </p:sp>
      <p:sp>
        <p:nvSpPr>
          <p:cNvPr id="11" name="Text 9"/>
          <p:cNvSpPr/>
          <p:nvPr/>
        </p:nvSpPr>
        <p:spPr>
          <a:xfrm>
            <a:off x="6217920" y="13075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&amp; Institutional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8745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Fulfills NEP 2020 Community Engagement credits (2–4)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One-click PDF for NAAC (3.6) &amp; NIRF social impact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977640"/>
            <a:ext cx="5669280" cy="2468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977640"/>
            <a:ext cx="5669280" cy="457200"/>
          </a:xfrm>
          <a:prstGeom prst="rect">
            <a:avLst/>
          </a:prstGeom>
          <a:solidFill>
            <a:srgbClr val="E67E22"/>
          </a:solidFill>
          <a:ln w="28575">
            <a:solidFill>
              <a:schemeClr val="accent5">
                <a:lumMod val="50000"/>
              </a:schemeClr>
            </a:solidFill>
          </a:ln>
        </p:spPr>
      </p:sp>
      <p:sp>
        <p:nvSpPr>
          <p:cNvPr id="16" name="Text 14"/>
          <p:cNvSpPr/>
          <p:nvPr/>
        </p:nvSpPr>
        <p:spPr>
          <a:xfrm>
            <a:off x="274320" y="40507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&amp; Corporate (CSR)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46177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Transparent escrow ledger for corporate sponsors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52578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 Section 80G tax exemption certificates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669280" cy="24688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77640"/>
            <a:ext cx="5669280" cy="457200"/>
          </a:xfrm>
          <a:prstGeom prst="rect">
            <a:avLst/>
          </a:prstGeom>
          <a:solidFill>
            <a:srgbClr val="27AE60"/>
          </a:solidFill>
          <a:ln w="28575">
            <a:solidFill>
              <a:schemeClr val="accent5">
                <a:lumMod val="50000"/>
              </a:schemeClr>
            </a:solidFill>
          </a:ln>
        </p:spPr>
      </p:sp>
      <p:sp>
        <p:nvSpPr>
          <p:cNvPr id="21" name="Text 19"/>
          <p:cNvSpPr/>
          <p:nvPr/>
        </p:nvSpPr>
        <p:spPr>
          <a:xfrm>
            <a:off x="6217920" y="40507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(Govt)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6177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90% reduction in manual grievance sorting 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52578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Officials see only unique, verified Master Challenges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6" name="Oval 25" descr="Your startup LOGO">
            <a:extLst>
              <a:ext uri="{FF2B5EF4-FFF2-40B4-BE49-F238E27FC236}">
                <a16:creationId xmlns:a16="http://schemas.microsoft.com/office/drawing/2014/main" id="{5F54B836-D03B-3304-CE9B-55AFEEF97F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5615"/>
            <a:ext cx="1149268" cy="654442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THE FAVICONS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BB1D7E2-D12E-8285-672A-2A0B45EEF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566" y="165153"/>
            <a:ext cx="2004194" cy="946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1612880" cy="2286000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Alignment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 2020 Guidelines: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Education framework on mandatory Community Engagement / Social Internships.
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NAAC Accreditation Manual: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3.6 detailing scoring metrics for institutional extension activities.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611880"/>
            <a:ext cx="11612880" cy="3017520"/>
          </a:xfrm>
          <a:prstGeom prst="roundRect">
            <a:avLst/>
          </a:prstGeom>
          <a:solidFill>
            <a:srgbClr val="FFF8E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49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Benchmarks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Two-Tier Citizen Sensing (IEEE)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preprocessing reduces redundant crowdsourced administrative overhead by &gt;25%.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Whisper-Large-v3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Hardware-accelerated transcription benchmarks for real-time Indic language processing.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Vision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object detection research for automated visual spam classification in crowdsourced datasets.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7" name="Oval 16" descr="Your startup LOGO">
            <a:extLst>
              <a:ext uri="{FF2B5EF4-FFF2-40B4-BE49-F238E27FC236}">
                <a16:creationId xmlns:a16="http://schemas.microsoft.com/office/drawing/2014/main" id="{F772F922-B98E-6459-05CC-6F04A7E26F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43002"/>
            <a:ext cx="1149268" cy="654442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THE FAVICONS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D72BB54-BC44-E58E-FB3D-530817052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566" y="142540"/>
            <a:ext cx="2004194" cy="946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661</Words>
  <Application>Microsoft Office PowerPoint</Application>
  <PresentationFormat>Widescreen</PresentationFormat>
  <Paragraphs>108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Arial Black</vt:lpstr>
      <vt:lpstr>Garamond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CivicBridge AI - Smart India Hackathon 2025</dc:title>
  <dc:subject>SIH 2025 Idea Submission</dc:subject>
  <dc:creator>SIH Team</dc:creator>
  <cp:lastModifiedBy>Pratik Sakhare</cp:lastModifiedBy>
  <cp:revision>2</cp:revision>
  <dcterms:created xsi:type="dcterms:W3CDTF">2026-09-17T16:17:03Z</dcterms:created>
  <dcterms:modified xsi:type="dcterms:W3CDTF">2026-09-19T05:07:30Z</dcterms:modified>
</cp:coreProperties>
</file>